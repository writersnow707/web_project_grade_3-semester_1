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323" r:id="rId3"/>
    <p:sldId id="316" r:id="rId4"/>
    <p:sldId id="291" r:id="rId5"/>
    <p:sldId id="324" r:id="rId6"/>
    <p:sldId id="312" r:id="rId7"/>
    <p:sldId id="318" r:id="rId8"/>
    <p:sldId id="325" r:id="rId9"/>
    <p:sldId id="326" r:id="rId10"/>
    <p:sldId id="313" r:id="rId11"/>
    <p:sldId id="319" r:id="rId12"/>
    <p:sldId id="328" r:id="rId13"/>
    <p:sldId id="327" r:id="rId14"/>
    <p:sldId id="329" r:id="rId15"/>
    <p:sldId id="315" r:id="rId16"/>
    <p:sldId id="320" r:id="rId17"/>
    <p:sldId id="330" r:id="rId18"/>
    <p:sldId id="331" r:id="rId19"/>
    <p:sldId id="314" r:id="rId20"/>
    <p:sldId id="321" r:id="rId21"/>
    <p:sldId id="332" r:id="rId22"/>
    <p:sldId id="28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7C8"/>
    <a:srgbClr val="F2F8EE"/>
    <a:srgbClr val="FFFFC1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4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32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98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35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4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985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0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9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73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184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08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62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35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1248F-2B2E-443A-B3FE-468995180348}" type="datetimeFigureOut">
              <a:rPr lang="ko-KR" altLang="en-US" smtClean="0"/>
              <a:t>2022-05-16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C9EEB-B37E-4356-8170-F46514BAC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5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1261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1091" y="2083777"/>
            <a:ext cx="3324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4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C7128-9952-44D0-91F9-F6E777EA0E87}"/>
              </a:ext>
            </a:extLst>
          </p:cNvPr>
          <p:cNvSpPr txBox="1"/>
          <p:nvPr/>
        </p:nvSpPr>
        <p:spPr>
          <a:xfrm>
            <a:off x="2676967" y="2263859"/>
            <a:ext cx="4389120" cy="718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/</a:t>
            </a: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컴퓨터교과 논리 및 논술</a:t>
            </a:r>
            <a:endParaRPr lang="en-US" altLang="ko-KR" sz="3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C314329-4FE4-4D67-A459-5961A7D7D249}"/>
              </a:ext>
            </a:extLst>
          </p:cNvPr>
          <p:cNvGrpSpPr/>
          <p:nvPr/>
        </p:nvGrpSpPr>
        <p:grpSpPr>
          <a:xfrm>
            <a:off x="1801091" y="2989183"/>
            <a:ext cx="7938140" cy="1126714"/>
            <a:chOff x="1830114" y="3193719"/>
            <a:chExt cx="7938140" cy="112671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A824B4E-E18B-4BF5-AF01-023C7B59E7DB}"/>
                </a:ext>
              </a:extLst>
            </p:cNvPr>
            <p:cNvSpPr/>
            <p:nvPr/>
          </p:nvSpPr>
          <p:spPr>
            <a:xfrm>
              <a:off x="2761488" y="3858768"/>
              <a:ext cx="7006766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30114" y="3193719"/>
              <a:ext cx="7519886" cy="1031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500" dirty="0">
                  <a:solidFill>
                    <a:schemeClr val="accent4">
                      <a:lumMod val="50000"/>
                    </a:schemeClr>
                  </a:solidFill>
                  <a:latin typeface="배찌체" panose="00000500000000000000" pitchFamily="2" charset="-127"/>
                  <a:ea typeface="배찌체" panose="00000500000000000000" pitchFamily="2" charset="-127"/>
                </a:rPr>
                <a:t>중등임용 문제 정리 및 해설</a:t>
              </a:r>
              <a:endParaRPr lang="en-US" altLang="ko-KR" sz="4500" dirty="0">
                <a:solidFill>
                  <a:schemeClr val="accent4">
                    <a:lumMod val="50000"/>
                  </a:schemeClr>
                </a:solidFill>
                <a:latin typeface="배찌체" panose="00000500000000000000" pitchFamily="2" charset="-127"/>
                <a:ea typeface="배찌체" panose="000005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352612-4FA6-42F3-B1B2-16BC32E071BE}"/>
              </a:ext>
            </a:extLst>
          </p:cNvPr>
          <p:cNvSpPr txBox="1"/>
          <p:nvPr/>
        </p:nvSpPr>
        <p:spPr>
          <a:xfrm>
            <a:off x="7281105" y="4989280"/>
            <a:ext cx="434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/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컴퓨터교육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1801183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이동기</a:t>
            </a:r>
          </a:p>
        </p:txBody>
      </p:sp>
    </p:spTree>
    <p:extLst>
      <p:ext uri="{BB962C8B-B14F-4D97-AF65-F5344CB8AC3E}">
        <p14:creationId xmlns:p14="http://schemas.microsoft.com/office/powerpoint/2010/main" val="395916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1261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D96BA6-0D11-49E0-A590-A1BFEE7D2A3E}"/>
              </a:ext>
            </a:extLst>
          </p:cNvPr>
          <p:cNvSpPr txBox="1"/>
          <p:nvPr/>
        </p:nvSpPr>
        <p:spPr>
          <a:xfrm>
            <a:off x="1486502" y="2046156"/>
            <a:ext cx="8983468" cy="3488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소프트웨어공학 </a:t>
            </a:r>
            <a:r>
              <a:rPr lang="en-US" altLang="ko-KR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- flowchart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컴퓨터구조 </a:t>
            </a:r>
            <a:r>
              <a:rPr lang="en-US" altLang="ko-KR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- </a:t>
            </a: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논리 회로</a:t>
            </a:r>
            <a:endParaRPr lang="en-US" altLang="ko-KR" sz="3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데이터베이스 </a:t>
            </a:r>
            <a:r>
              <a:rPr lang="en-US" altLang="ko-KR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- SQL </a:t>
            </a: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응용</a:t>
            </a:r>
            <a:endParaRPr lang="en-US" altLang="ko-KR" sz="3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- </a:t>
            </a:r>
            <a:r>
              <a:rPr lang="ko-KR" altLang="en-US" sz="3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 트리 구조</a:t>
            </a:r>
            <a:endParaRPr lang="en-US" altLang="ko-KR" sz="3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- </a:t>
            </a:r>
            <a:r>
              <a:rPr lang="ko-KR" altLang="en-US" sz="3000" dirty="0">
                <a:latin typeface="배찌체" panose="00000500000000000000" pitchFamily="2" charset="-127"/>
                <a:ea typeface="배찌체" panose="00000500000000000000" pitchFamily="2" charset="-127"/>
              </a:rPr>
              <a:t>그래프</a:t>
            </a:r>
            <a:endParaRPr lang="en-US" altLang="ko-KR" sz="3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68C4AE-B93E-470F-8C05-B4BCD812A23D}"/>
              </a:ext>
            </a:extLst>
          </p:cNvPr>
          <p:cNvSpPr/>
          <p:nvPr/>
        </p:nvSpPr>
        <p:spPr>
          <a:xfrm>
            <a:off x="955583" y="1595399"/>
            <a:ext cx="169101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EAD772-D44E-4497-A8B4-DCD511B75DDE}"/>
              </a:ext>
            </a:extLst>
          </p:cNvPr>
          <p:cNvSpPr txBox="1"/>
          <p:nvPr/>
        </p:nvSpPr>
        <p:spPr>
          <a:xfrm>
            <a:off x="955583" y="987917"/>
            <a:ext cx="1691016" cy="10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500" dirty="0">
                <a:solidFill>
                  <a:schemeClr val="accent4">
                    <a:lumMod val="50000"/>
                  </a:schemeClr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목차 </a:t>
            </a:r>
            <a:endParaRPr lang="en-US" altLang="ko-KR" sz="4500" dirty="0">
              <a:solidFill>
                <a:schemeClr val="accent4">
                  <a:lumMod val="50000"/>
                </a:schemeClr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360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6277" y="553111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154BF-6BCC-4CEC-8092-2C8219FB0A4F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소프트웨어공학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flowchart 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10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C781F8-D74A-412B-B7FF-D5044E605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48" y="1254317"/>
            <a:ext cx="2748494" cy="44941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F70DD1-09CF-4B88-B7DA-CAEEEDEB9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433" y="1324273"/>
            <a:ext cx="3699650" cy="419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6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7636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소프트웨어공학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flowchart 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10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접근 방법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분기 테스팅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(branch testing)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과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경로 테스팅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(path testing)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을 구분하는 것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C6BA90-9BA2-4DFC-AD53-1B6F3116A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75" y="2375520"/>
            <a:ext cx="3800475" cy="9620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EDCA194-2610-4682-8EB9-2F3ACF481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75" y="3520456"/>
            <a:ext cx="3800475" cy="93345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7A49C67-D593-4C76-9817-2741AC934F65}"/>
              </a:ext>
            </a:extLst>
          </p:cNvPr>
          <p:cNvSpPr/>
          <p:nvPr/>
        </p:nvSpPr>
        <p:spPr>
          <a:xfrm>
            <a:off x="4999839" y="2648713"/>
            <a:ext cx="444616" cy="415637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475918A-67B3-4197-92B0-FAC55A56AAF5}"/>
              </a:ext>
            </a:extLst>
          </p:cNvPr>
          <p:cNvSpPr/>
          <p:nvPr/>
        </p:nvSpPr>
        <p:spPr>
          <a:xfrm>
            <a:off x="4994640" y="3777143"/>
            <a:ext cx="444616" cy="415637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E14416-925C-4E2E-8FC9-6ACD635BB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046" y="2199655"/>
            <a:ext cx="3194466" cy="2254251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D55BD6D-F787-4DB8-9006-857FB3526286}"/>
              </a:ext>
            </a:extLst>
          </p:cNvPr>
          <p:cNvCxnSpPr>
            <a:cxnSpLocks/>
          </p:cNvCxnSpPr>
          <p:nvPr/>
        </p:nvCxnSpPr>
        <p:spPr>
          <a:xfrm>
            <a:off x="1138335" y="2606768"/>
            <a:ext cx="165329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F7C2E35-68EB-4690-8437-300628D608D1}"/>
              </a:ext>
            </a:extLst>
          </p:cNvPr>
          <p:cNvCxnSpPr>
            <a:cxnSpLocks/>
          </p:cNvCxnSpPr>
          <p:nvPr/>
        </p:nvCxnSpPr>
        <p:spPr>
          <a:xfrm>
            <a:off x="1138335" y="3727796"/>
            <a:ext cx="146490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15F4A086-C5FD-4A42-9456-0BC7914EB66B}"/>
              </a:ext>
            </a:extLst>
          </p:cNvPr>
          <p:cNvSpPr/>
          <p:nvPr/>
        </p:nvSpPr>
        <p:spPr>
          <a:xfrm>
            <a:off x="7475061" y="3459419"/>
            <a:ext cx="335902" cy="31772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8BF6BA5-EDA8-42A0-81C5-C91BCCD2AC92}"/>
              </a:ext>
            </a:extLst>
          </p:cNvPr>
          <p:cNvSpPr/>
          <p:nvPr/>
        </p:nvSpPr>
        <p:spPr>
          <a:xfrm>
            <a:off x="6767805" y="3459420"/>
            <a:ext cx="335902" cy="31772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AAEA814-FDA5-4C00-B786-B1C888609A08}"/>
              </a:ext>
            </a:extLst>
          </p:cNvPr>
          <p:cNvSpPr/>
          <p:nvPr/>
        </p:nvSpPr>
        <p:spPr>
          <a:xfrm>
            <a:off x="6767805" y="3777142"/>
            <a:ext cx="335902" cy="317723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0BB9763-53F1-4566-A26C-CD1AA983BC61}"/>
              </a:ext>
            </a:extLst>
          </p:cNvPr>
          <p:cNvSpPr/>
          <p:nvPr/>
        </p:nvSpPr>
        <p:spPr>
          <a:xfrm>
            <a:off x="7496256" y="4066050"/>
            <a:ext cx="335902" cy="317723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17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7636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소프트웨어공학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flowchart 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10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접근 방법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분기 테스팅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(branch testing)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과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경로 테스팅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(path testing)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을 구분하는 것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7A49C67-D593-4C76-9817-2741AC934F65}"/>
              </a:ext>
            </a:extLst>
          </p:cNvPr>
          <p:cNvSpPr/>
          <p:nvPr/>
        </p:nvSpPr>
        <p:spPr>
          <a:xfrm>
            <a:off x="4231194" y="3392510"/>
            <a:ext cx="754044" cy="73795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E14416-925C-4E2E-8FC9-6ACD635B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496" y="2273602"/>
            <a:ext cx="4078536" cy="287811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25A3A26-3FAE-AC03-8081-1855FD74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259" y="2254214"/>
            <a:ext cx="2348121" cy="3184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57041B-AE22-C9DE-EE8C-456C924CDFDC}"/>
              </a:ext>
            </a:extLst>
          </p:cNvPr>
          <p:cNvSpPr txBox="1"/>
          <p:nvPr/>
        </p:nvSpPr>
        <p:spPr>
          <a:xfrm>
            <a:off x="9136498" y="3492471"/>
            <a:ext cx="2004978" cy="1548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False(2)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True(+1)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True(1)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True(+1)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False(2)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False(+2)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E8108-2646-86AB-EFC6-05C8C3A68C87}"/>
              </a:ext>
            </a:extLst>
          </p:cNvPr>
          <p:cNvSpPr txBox="1"/>
          <p:nvPr/>
        </p:nvSpPr>
        <p:spPr>
          <a:xfrm>
            <a:off x="9136498" y="3867741"/>
            <a:ext cx="2004978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True(1)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,</a:t>
            </a: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False(+2)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9B76A2-F8AD-68AD-EE99-6D89F6A23E95}"/>
              </a:ext>
            </a:extLst>
          </p:cNvPr>
          <p:cNvSpPr txBox="1"/>
          <p:nvPr/>
        </p:nvSpPr>
        <p:spPr>
          <a:xfrm>
            <a:off x="6220288" y="3876619"/>
            <a:ext cx="1047400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a&gt;1, a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≠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4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5F4CC3-D71A-AE0E-B671-F723AE092B97}"/>
              </a:ext>
            </a:extLst>
          </p:cNvPr>
          <p:cNvSpPr txBox="1"/>
          <p:nvPr/>
        </p:nvSpPr>
        <p:spPr>
          <a:xfrm>
            <a:off x="7158792" y="3876619"/>
            <a:ext cx="797261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4C596A-6A6F-78A1-F96A-2CB68300E99B}"/>
              </a:ext>
            </a:extLst>
          </p:cNvPr>
          <p:cNvSpPr txBox="1"/>
          <p:nvPr/>
        </p:nvSpPr>
        <p:spPr>
          <a:xfrm>
            <a:off x="6420918" y="4266657"/>
            <a:ext cx="820136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4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8CF70-CF2A-1D24-591B-E9C3EBA04766}"/>
              </a:ext>
            </a:extLst>
          </p:cNvPr>
          <p:cNvSpPr txBox="1"/>
          <p:nvPr/>
        </p:nvSpPr>
        <p:spPr>
          <a:xfrm>
            <a:off x="7135917" y="4647817"/>
            <a:ext cx="820136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b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≠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077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30" grpId="0"/>
      <p:bldP spid="23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6277" y="553111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536D8-FD59-4836-BC63-FBE656CB9494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컴퓨터구조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논리 회로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FD0445-86EE-49E5-A22C-63736BEE4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02" y="1709038"/>
            <a:ext cx="4305300" cy="35909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23F0A96-032C-4396-80C0-C69C80834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536" y="2413888"/>
            <a:ext cx="42100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9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623451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컴퓨터구조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논리 회로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접근 방법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XOR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게이트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와 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패리티 비트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(parity bit)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의 이해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568A8-A1E6-4F12-BAC8-1553D3BD4FE6}"/>
              </a:ext>
            </a:extLst>
          </p:cNvPr>
          <p:cNvSpPr txBox="1"/>
          <p:nvPr/>
        </p:nvSpPr>
        <p:spPr>
          <a:xfrm>
            <a:off x="931374" y="2205721"/>
            <a:ext cx="1824525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XOR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게이트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5EBA14-66C5-4A6B-AB32-70073335150C}"/>
              </a:ext>
            </a:extLst>
          </p:cNvPr>
          <p:cNvSpPr txBox="1"/>
          <p:nvPr/>
        </p:nvSpPr>
        <p:spPr>
          <a:xfrm>
            <a:off x="931374" y="3513276"/>
            <a:ext cx="2446825" cy="4156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패리티 비트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(parity bit)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028" name="Picture 4" descr="Glossary Definition for XOR Gate">
            <a:extLst>
              <a:ext uri="{FF2B5EF4-FFF2-40B4-BE49-F238E27FC236}">
                <a16:creationId xmlns:a16="http://schemas.microsoft.com/office/drawing/2014/main" id="{D2FFD235-A553-48BB-BC4B-AF8630171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1555678"/>
            <a:ext cx="3867149" cy="244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45D522-6FC8-425A-A927-CC4310EF00CE}"/>
              </a:ext>
            </a:extLst>
          </p:cNvPr>
          <p:cNvSpPr txBox="1"/>
          <p:nvPr/>
        </p:nvSpPr>
        <p:spPr>
          <a:xfrm>
            <a:off x="931374" y="2691041"/>
            <a:ext cx="652352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A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와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B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가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서로 같으면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0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서로 다르면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을 출력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Tip) A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와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B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의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덧셈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으로 이해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 (0+0 = 0, 0+1 = 1, 1+1 = 0)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830BBF-637B-4E57-BB19-993820AFA7DB}"/>
              </a:ext>
            </a:extLst>
          </p:cNvPr>
          <p:cNvSpPr txBox="1"/>
          <p:nvPr/>
        </p:nvSpPr>
        <p:spPr>
          <a:xfrm>
            <a:off x="931374" y="4012037"/>
            <a:ext cx="6934335" cy="2067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정보의 전달 과정에서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오류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가 생겼는지를 검사하기 위해 추가된 비트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홀수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(Odd)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패리티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전체 비트에서 </a:t>
            </a:r>
            <a:r>
              <a:rPr lang="en-US" altLang="ko-KR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의 개수가 홀수가 되도록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패리티 비트를 정하는 방법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짝수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(Even)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패리티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전체 비트에서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의 개수가 짝수가 되도록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패리티 비트를 정하는 방법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032" name="Picture 8" descr="https://mblogthumb-phinf.pstatic.net/MjAxNjEyMTVfNDgg/MDAxNDgxNzc4Mjg0NTk2.Ln8Hqrvkg1KjguXpEf9ISN9Cqijkg7rnvu0JUjMJ4Dwg.HCbNEziV16sQvFmbRAPsVzZrvYCQqtV6H6QjYuqFP70g.PNG.ansdbtls4067/%EA%B7%B8%EB%A6%BC5.png?type=w800">
            <a:extLst>
              <a:ext uri="{FF2B5EF4-FFF2-40B4-BE49-F238E27FC236}">
                <a16:creationId xmlns:a16="http://schemas.microsoft.com/office/drawing/2014/main" id="{C71FA5BB-CC33-473C-A9E2-9605AA89D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4140947"/>
            <a:ext cx="4275625" cy="165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456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623451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컴퓨터구조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논리 회로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13620" y="1597612"/>
            <a:ext cx="6934335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1, 2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 XOR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게이트 문제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F2445E4-743F-8E78-75B6-479CE4D4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74" y="2584303"/>
            <a:ext cx="4105275" cy="18002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22496D-771E-43AC-DACF-D960196AF992}"/>
              </a:ext>
            </a:extLst>
          </p:cNvPr>
          <p:cNvSpPr txBox="1"/>
          <p:nvPr/>
        </p:nvSpPr>
        <p:spPr>
          <a:xfrm>
            <a:off x="5618785" y="2109864"/>
            <a:ext cx="245101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1. X</a:t>
            </a:r>
            <a:r>
              <a:rPr lang="ko-KR" altLang="en-US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= 1 0 1 0 </a:t>
            </a:r>
            <a:r>
              <a:rPr lang="ko-KR" altLang="en-US" sz="15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⑵</a:t>
            </a:r>
            <a:endParaRPr lang="en-US" altLang="ko-KR" sz="15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2D3D0-8121-85DB-FB62-5801CC0C4191}"/>
              </a:ext>
            </a:extLst>
          </p:cNvPr>
          <p:cNvSpPr txBox="1"/>
          <p:nvPr/>
        </p:nvSpPr>
        <p:spPr>
          <a:xfrm>
            <a:off x="5672145" y="3938536"/>
            <a:ext cx="2397658" cy="3847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2. Y</a:t>
            </a:r>
            <a:r>
              <a:rPr lang="ko-KR" altLang="en-US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= 1 0 1 0 </a:t>
            </a:r>
            <a:r>
              <a:rPr lang="ko-KR" altLang="en-US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⑵</a:t>
            </a:r>
            <a:r>
              <a:rPr lang="en-US" altLang="ko-KR" sz="19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3363EB-4928-C47B-FF4E-7BDCA4189472}"/>
              </a:ext>
            </a:extLst>
          </p:cNvPr>
          <p:cNvSpPr txBox="1"/>
          <p:nvPr/>
        </p:nvSpPr>
        <p:spPr>
          <a:xfrm>
            <a:off x="1342004" y="2481052"/>
            <a:ext cx="3684234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1     0                                 1                                0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208687-550D-BA79-2750-31895FE6FF92}"/>
              </a:ext>
            </a:extLst>
          </p:cNvPr>
          <p:cNvSpPr txBox="1"/>
          <p:nvPr/>
        </p:nvSpPr>
        <p:spPr>
          <a:xfrm>
            <a:off x="1342003" y="4155294"/>
            <a:ext cx="3798167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1                                         1                                 0                              0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5E96DC-BB28-3D8E-9C87-1C69FCD20FAB}"/>
              </a:ext>
            </a:extLst>
          </p:cNvPr>
          <p:cNvSpPr txBox="1"/>
          <p:nvPr/>
        </p:nvSpPr>
        <p:spPr>
          <a:xfrm>
            <a:off x="5618785" y="2787439"/>
            <a:ext cx="3798167" cy="110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ko-KR" altLang="en-US" sz="1400" b="0" i="0" dirty="0">
                <a:solidFill>
                  <a:srgbClr val="666666"/>
                </a:solidFill>
                <a:effectLst/>
                <a:latin typeface="Noto Sans Demilight"/>
              </a:rPr>
              <a:t>⊕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ko-KR" altLang="en-US" sz="1400" b="0" i="0" dirty="0">
                <a:solidFill>
                  <a:srgbClr val="666666"/>
                </a:solidFill>
                <a:effectLst/>
                <a:latin typeface="Noto Sans Demilight"/>
              </a:rPr>
              <a:t>⊕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ko-KR" altLang="en-US" sz="1400" b="0" i="0" dirty="0">
                <a:solidFill>
                  <a:srgbClr val="666666"/>
                </a:solidFill>
                <a:effectLst/>
                <a:latin typeface="Noto Sans Demilight"/>
              </a:rPr>
              <a:t>⊕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0	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∴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1 1 0 0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1100" dirty="0">
                <a:latin typeface="배찌체" panose="00000500000000000000" pitchFamily="2" charset="-127"/>
                <a:ea typeface="배찌체" panose="00000500000000000000" pitchFamily="2" charset="-127"/>
              </a:rPr>
              <a:t>⑵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8BB7A2-73CC-0F29-AD32-1AE8E5855C95}"/>
              </a:ext>
            </a:extLst>
          </p:cNvPr>
          <p:cNvSpPr txBox="1"/>
          <p:nvPr/>
        </p:nvSpPr>
        <p:spPr>
          <a:xfrm>
            <a:off x="5672144" y="4669783"/>
            <a:ext cx="3798167" cy="110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ko-KR" altLang="en-US" sz="1400" b="0" i="0" dirty="0">
                <a:solidFill>
                  <a:srgbClr val="666666"/>
                </a:solidFill>
                <a:effectLst/>
                <a:latin typeface="Noto Sans Demilight"/>
              </a:rPr>
              <a:t>⊕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0,	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ko-KR" altLang="en-US" sz="1400" b="0" i="0" dirty="0">
                <a:solidFill>
                  <a:srgbClr val="666666"/>
                </a:solidFill>
                <a:effectLst/>
                <a:latin typeface="Noto Sans Demilight"/>
              </a:rPr>
              <a:t>⊕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1,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	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ko-KR" altLang="en-US" sz="1400" b="0" i="0" dirty="0">
                <a:solidFill>
                  <a:srgbClr val="666666"/>
                </a:solidFill>
                <a:effectLst/>
                <a:latin typeface="Noto Sans Demilight"/>
              </a:rPr>
              <a:t>⊕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Y</a:t>
            </a:r>
            <a:r>
              <a:rPr lang="ko-KR" altLang="en-US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0,	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。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1	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∴ 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= 1 1 1 1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1100" dirty="0">
                <a:latin typeface="배찌체" panose="00000500000000000000" pitchFamily="2" charset="-127"/>
                <a:ea typeface="배찌체" panose="00000500000000000000" pitchFamily="2" charset="-127"/>
              </a:rPr>
              <a:t>⑵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9E63F6-0703-9F01-80F4-6C66ED263B43}"/>
              </a:ext>
            </a:extLst>
          </p:cNvPr>
          <p:cNvSpPr txBox="1"/>
          <p:nvPr/>
        </p:nvSpPr>
        <p:spPr>
          <a:xfrm>
            <a:off x="1342003" y="4406381"/>
            <a:ext cx="3798167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1                                         0                                 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                             0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8" name="화살표: 오른쪽으로 구부러짐 17">
            <a:extLst>
              <a:ext uri="{FF2B5EF4-FFF2-40B4-BE49-F238E27FC236}">
                <a16:creationId xmlns:a16="http://schemas.microsoft.com/office/drawing/2014/main" id="{64F2A8EE-E83C-9E3C-F272-9B8BBF244A3E}"/>
              </a:ext>
            </a:extLst>
          </p:cNvPr>
          <p:cNvSpPr/>
          <p:nvPr/>
        </p:nvSpPr>
        <p:spPr>
          <a:xfrm>
            <a:off x="676507" y="2608129"/>
            <a:ext cx="693933" cy="18787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화살표: 오른쪽으로 구부러짐 32">
            <a:extLst>
              <a:ext uri="{FF2B5EF4-FFF2-40B4-BE49-F238E27FC236}">
                <a16:creationId xmlns:a16="http://schemas.microsoft.com/office/drawing/2014/main" id="{CA2D2F22-3264-1FDC-D9A2-B40A2B068FC7}"/>
              </a:ext>
            </a:extLst>
          </p:cNvPr>
          <p:cNvSpPr/>
          <p:nvPr/>
        </p:nvSpPr>
        <p:spPr>
          <a:xfrm rot="10800000">
            <a:off x="5026236" y="2405776"/>
            <a:ext cx="531975" cy="227809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557214-5DD3-5A1A-96B1-F36E9D8DCA47}"/>
              </a:ext>
            </a:extLst>
          </p:cNvPr>
          <p:cNvSpPr txBox="1"/>
          <p:nvPr/>
        </p:nvSpPr>
        <p:spPr>
          <a:xfrm>
            <a:off x="1342001" y="2267872"/>
            <a:ext cx="3684234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1      1                                 1                                1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56ABC0-AF21-7152-06AE-F44E6E11D527}"/>
              </a:ext>
            </a:extLst>
          </p:cNvPr>
          <p:cNvSpPr txBox="1"/>
          <p:nvPr/>
        </p:nvSpPr>
        <p:spPr>
          <a:xfrm>
            <a:off x="5618784" y="2541760"/>
            <a:ext cx="3798167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XOR 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게이트를 그대로 생각해보기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3F0CB2-0A77-9B0C-DD33-FC27FCE893F1}"/>
              </a:ext>
            </a:extLst>
          </p:cNvPr>
          <p:cNvSpPr txBox="1"/>
          <p:nvPr/>
        </p:nvSpPr>
        <p:spPr>
          <a:xfrm>
            <a:off x="5672144" y="4353228"/>
            <a:ext cx="3798167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XOR 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게이트를 반대로 생각해보기</a:t>
            </a:r>
            <a:r>
              <a:rPr lang="en-US" altLang="ko-KR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97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27" grpId="0"/>
      <p:bldP spid="28" grpId="0"/>
      <p:bldP spid="30" grpId="0"/>
      <p:bldP spid="18" grpId="0" animBg="1"/>
      <p:bldP spid="33" grpId="0" animBg="1"/>
      <p:bldP spid="35" grpId="0"/>
      <p:bldP spid="36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623451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컴퓨터구조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논리 회로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13619" y="1597365"/>
            <a:ext cx="6934335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3 :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패리티 비트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(parity bit)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F2445E4-743F-8E78-75B6-479CE4D4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74" y="2584303"/>
            <a:ext cx="4105275" cy="18002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22496D-771E-43AC-DACF-D960196AF992}"/>
              </a:ext>
            </a:extLst>
          </p:cNvPr>
          <p:cNvSpPr txBox="1"/>
          <p:nvPr/>
        </p:nvSpPr>
        <p:spPr>
          <a:xfrm>
            <a:off x="5409234" y="2013656"/>
            <a:ext cx="311564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3. Y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。를 </a:t>
            </a:r>
            <a:r>
              <a:rPr lang="ko-KR" altLang="en-US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짝수 패리티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검출기로 사용</a:t>
            </a:r>
            <a:endParaRPr lang="en-US" altLang="ko-KR" sz="15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0BB4F6-C494-A26A-E502-9A1C7A69B692}"/>
              </a:ext>
            </a:extLst>
          </p:cNvPr>
          <p:cNvSpPr/>
          <p:nvPr/>
        </p:nvSpPr>
        <p:spPr>
          <a:xfrm>
            <a:off x="4802819" y="3985347"/>
            <a:ext cx="310719" cy="2968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1BA3DF-D68F-CE3B-ABC5-B1ED6761116A}"/>
              </a:ext>
            </a:extLst>
          </p:cNvPr>
          <p:cNvSpPr txBox="1"/>
          <p:nvPr/>
        </p:nvSpPr>
        <p:spPr>
          <a:xfrm>
            <a:off x="1023475" y="2481052"/>
            <a:ext cx="4002764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ⓐ</a:t>
            </a:r>
            <a:r>
              <a:rPr lang="en-US" altLang="ko-KR" sz="14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1      1                                 1                                1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87F881-64E7-2B7F-9AFE-718CA362CAF4}"/>
              </a:ext>
            </a:extLst>
          </p:cNvPr>
          <p:cNvSpPr txBox="1"/>
          <p:nvPr/>
        </p:nvSpPr>
        <p:spPr>
          <a:xfrm>
            <a:off x="1023474" y="2243800"/>
            <a:ext cx="4002764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ⓑ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1      1                                 1                                0</a:t>
            </a:r>
            <a:endParaRPr lang="ko-KR" altLang="en-US" sz="14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BBFFF-428D-BA3A-B7DD-99CBE99F26A3}"/>
              </a:ext>
            </a:extLst>
          </p:cNvPr>
          <p:cNvSpPr txBox="1"/>
          <p:nvPr/>
        </p:nvSpPr>
        <p:spPr>
          <a:xfrm>
            <a:off x="5380659" y="2496890"/>
            <a:ext cx="4002764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ⓐ</a:t>
            </a:r>
            <a:r>
              <a:rPr kumimoji="0" lang="ko-KR" alt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 </a:t>
            </a:r>
            <a:r>
              <a:rPr kumimoji="0" lang="en-US" altLang="ko-KR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kumimoji="0" lang="ko-KR" alt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의 개수가 </a:t>
            </a:r>
            <a:r>
              <a:rPr kumimoji="0" lang="ko-KR" altLang="en-US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짝수</a:t>
            </a:r>
            <a:r>
              <a:rPr kumimoji="0" lang="ko-KR" alt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인 경우</a:t>
            </a:r>
            <a:r>
              <a:rPr kumimoji="0" lang="en-US" altLang="ko-KR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kumimoji="0" lang="ko-KR" alt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→ 오류 검출 </a:t>
            </a:r>
            <a:r>
              <a:rPr kumimoji="0" lang="en-US" altLang="ko-KR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= 1 0 1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0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⑵</a:t>
            </a:r>
            <a:endParaRPr lang="en-US" altLang="ko-KR" sz="14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237F50-C953-A376-980F-34145ECA7757}"/>
              </a:ext>
            </a:extLst>
          </p:cNvPr>
          <p:cNvSpPr txBox="1"/>
          <p:nvPr/>
        </p:nvSpPr>
        <p:spPr>
          <a:xfrm>
            <a:off x="5414428" y="3290722"/>
            <a:ext cx="4002764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ⓑ 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의 개수가 </a:t>
            </a:r>
            <a:r>
              <a:rPr lang="ko-KR" altLang="en-US" dirty="0">
                <a:solidFill>
                  <a:srgbClr val="C0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홀수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인 경우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→ 오류 검출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O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₃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₂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₁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。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= 1 0 1 </a:t>
            </a:r>
            <a:r>
              <a:rPr lang="en-US" altLang="ko-KR" dirty="0">
                <a:solidFill>
                  <a:srgbClr val="C0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⑵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DDC56A3-BF56-5159-4910-0ABCAF58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63" y="4441651"/>
            <a:ext cx="3800475" cy="1285875"/>
          </a:xfrm>
          <a:prstGeom prst="rect">
            <a:avLst/>
          </a:prstGeom>
        </p:spPr>
      </p:pic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CFE26E42-0D47-0FC3-660E-D08356BDBA6F}"/>
              </a:ext>
            </a:extLst>
          </p:cNvPr>
          <p:cNvSpPr/>
          <p:nvPr/>
        </p:nvSpPr>
        <p:spPr>
          <a:xfrm>
            <a:off x="5281149" y="4802640"/>
            <a:ext cx="527508" cy="56389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29EA6A-E644-70CE-6B2C-9C4F1E9134CA}"/>
              </a:ext>
            </a:extLst>
          </p:cNvPr>
          <p:cNvSpPr txBox="1"/>
          <p:nvPr/>
        </p:nvSpPr>
        <p:spPr>
          <a:xfrm>
            <a:off x="5942647" y="4482585"/>
            <a:ext cx="4353878" cy="117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∴ 출력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Y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。의 값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= 1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why?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의 개수가 홀수인 경우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오류가 검출된 경우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            Y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。의 값이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이 나오기 때문이다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770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1" grpId="0"/>
      <p:bldP spid="34" grpId="0"/>
      <p:bldP spid="38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26473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CBE44-2651-4EC7-82B5-E8EF2B8F9FAC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3.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데이터베이스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SQL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응용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9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CECF25-ED0D-4E09-A8B5-BE8687801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1" y="1267070"/>
            <a:ext cx="3273934" cy="47042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30598C-72B2-47E8-9545-CC3F13C95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525" y="1255427"/>
            <a:ext cx="3117209" cy="470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01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4032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3.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데이터베이스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SQL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응용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9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439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접근 방법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SQL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문에 대한 이해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사용하는 테이블을 </a:t>
            </a:r>
            <a:r>
              <a:rPr lang="ko-KR" altLang="en-US" dirty="0" err="1">
                <a:latin typeface="배찌체" panose="00000500000000000000" pitchFamily="2" charset="-127"/>
                <a:ea typeface="배찌체" panose="00000500000000000000" pitchFamily="2" charset="-127"/>
              </a:rPr>
              <a:t>조회시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 사용하는 문장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ON </a:t>
            </a:r>
            <a:r>
              <a:rPr lang="en-US" altLang="ko-KR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DELETE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CASCADE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기준 테이블의 데이터가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삭제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되었을 때 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외래 키 테이블의 데이터들도 자동으로 삭제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ON </a:t>
            </a:r>
            <a:r>
              <a:rPr lang="en-US" altLang="ko-KR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UPDATE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NO ACTION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(=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RESTRICT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기준 테이블의 데이터가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변경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되어도 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외래 키 테이블에 자동적으로 변경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/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삭제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X</a:t>
            </a: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BD000-75C8-24BE-DEFD-B710B3B48E36}"/>
              </a:ext>
            </a:extLst>
          </p:cNvPr>
          <p:cNvSpPr txBox="1"/>
          <p:nvPr/>
        </p:nvSpPr>
        <p:spPr>
          <a:xfrm>
            <a:off x="931375" y="2377171"/>
            <a:ext cx="3631100" cy="4055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SELECT[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]  FROM[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테이블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]  WHERE[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조건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E0A91-6CB5-E16B-BAD5-827451658C64}"/>
              </a:ext>
            </a:extLst>
          </p:cNvPr>
          <p:cNvSpPr txBox="1"/>
          <p:nvPr/>
        </p:nvSpPr>
        <p:spPr>
          <a:xfrm>
            <a:off x="931375" y="3334837"/>
            <a:ext cx="1907075" cy="4055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FK(</a:t>
            </a:r>
            <a:r>
              <a:rPr lang="ko-KR" altLang="en-US" dirty="0" err="1">
                <a:latin typeface="배찌체" panose="00000500000000000000" pitchFamily="2" charset="-127"/>
                <a:ea typeface="배찌체" panose="00000500000000000000" pitchFamily="2" charset="-127"/>
              </a:rPr>
              <a:t>외래키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제약 조건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94D5FC-72A2-B0E8-83D1-15BAB1842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93069"/>
            <a:ext cx="3686174" cy="347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87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4032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3.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데이터베이스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SQL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응용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9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endParaRPr lang="en-US" altLang="ko-KR" dirty="0">
              <a:solidFill>
                <a:srgbClr val="0070C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8AA73-4C93-6EB2-FAB0-639ED10C3F16}"/>
              </a:ext>
            </a:extLst>
          </p:cNvPr>
          <p:cNvSpPr txBox="1"/>
          <p:nvPr/>
        </p:nvSpPr>
        <p:spPr>
          <a:xfrm>
            <a:off x="913619" y="1597365"/>
            <a:ext cx="6934335" cy="14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㉠에 들어갈 내용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가장 먼저 개설된 동호회의 개설연도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동호회에 가입한 사원</a:t>
            </a:r>
            <a:endParaRPr lang="en-US" altLang="ko-KR" dirty="0">
              <a:solidFill>
                <a:srgbClr val="0070C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0CAFD1-A898-477E-99D6-BD7F3AD23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2092531"/>
            <a:ext cx="2933072" cy="27625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7D90584-A575-A437-D1BE-2DFF09E6B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66" y="2200547"/>
            <a:ext cx="3000772" cy="26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52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4032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3.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데이터베이스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SQL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응용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9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endParaRPr lang="en-US" altLang="ko-KR" dirty="0">
              <a:solidFill>
                <a:srgbClr val="0070C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8AA73-4C93-6EB2-FAB0-639ED10C3F16}"/>
              </a:ext>
            </a:extLst>
          </p:cNvPr>
          <p:cNvSpPr txBox="1"/>
          <p:nvPr/>
        </p:nvSpPr>
        <p:spPr>
          <a:xfrm>
            <a:off x="913619" y="1597365"/>
            <a:ext cx="10347006" cy="3729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2. SQL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문 실행 결과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ⓐ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ⓑ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7D90584-A575-A437-D1BE-2DFF09E6B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967" y="2145139"/>
            <a:ext cx="3000772" cy="265452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25DDE09-52D5-A028-ABF0-41FB09638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31" y="2311682"/>
            <a:ext cx="4591050" cy="342900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CE04667-0A22-B0CD-1A7D-FE4D7E54110C}"/>
              </a:ext>
            </a:extLst>
          </p:cNvPr>
          <p:cNvCxnSpPr>
            <a:cxnSpLocks/>
          </p:cNvCxnSpPr>
          <p:nvPr/>
        </p:nvCxnSpPr>
        <p:spPr>
          <a:xfrm>
            <a:off x="6648450" y="2944886"/>
            <a:ext cx="11995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8830122-6CE5-6A73-B368-88D266D55BF5}"/>
              </a:ext>
            </a:extLst>
          </p:cNvPr>
          <p:cNvCxnSpPr>
            <a:cxnSpLocks/>
          </p:cNvCxnSpPr>
          <p:nvPr/>
        </p:nvCxnSpPr>
        <p:spPr>
          <a:xfrm>
            <a:off x="6648450" y="3411611"/>
            <a:ext cx="11995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5FD4F61-0969-9430-A2FC-8D7951439832}"/>
              </a:ext>
            </a:extLst>
          </p:cNvPr>
          <p:cNvCxnSpPr>
            <a:cxnSpLocks/>
          </p:cNvCxnSpPr>
          <p:nvPr/>
        </p:nvCxnSpPr>
        <p:spPr>
          <a:xfrm>
            <a:off x="6638925" y="3735461"/>
            <a:ext cx="11995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75C5597-1B0A-37A1-D696-2B16A036B6FA}"/>
              </a:ext>
            </a:extLst>
          </p:cNvPr>
          <p:cNvCxnSpPr>
            <a:cxnSpLocks/>
          </p:cNvCxnSpPr>
          <p:nvPr/>
        </p:nvCxnSpPr>
        <p:spPr>
          <a:xfrm>
            <a:off x="6638925" y="4049786"/>
            <a:ext cx="11995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E55D0BE-AF52-67DF-B4E2-030AEA905645}"/>
              </a:ext>
            </a:extLst>
          </p:cNvPr>
          <p:cNvCxnSpPr>
            <a:cxnSpLocks/>
          </p:cNvCxnSpPr>
          <p:nvPr/>
        </p:nvCxnSpPr>
        <p:spPr>
          <a:xfrm>
            <a:off x="8105775" y="4459361"/>
            <a:ext cx="11995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FC8DE37A-18E0-8BBA-7228-61D848616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331" y="3950377"/>
            <a:ext cx="3067050" cy="3619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A3F56C3-B476-8442-538B-8BA03458A61A}"/>
              </a:ext>
            </a:extLst>
          </p:cNvPr>
          <p:cNvSpPr txBox="1"/>
          <p:nvPr/>
        </p:nvSpPr>
        <p:spPr>
          <a:xfrm>
            <a:off x="913619" y="2618894"/>
            <a:ext cx="5126029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동호회 릴레이션의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D2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해당되는 데이터를 삭제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삭제 후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en-US" altLang="ko-KR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CASCADE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조건에 의해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     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가입 릴레이션의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D2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해당되는 데이터들도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자동적으로 삭제</a:t>
            </a: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3FE29F-6EF9-3C78-ABCA-BDB07CA7C3D4}"/>
              </a:ext>
            </a:extLst>
          </p:cNvPr>
          <p:cNvSpPr txBox="1"/>
          <p:nvPr/>
        </p:nvSpPr>
        <p:spPr>
          <a:xfrm>
            <a:off x="931375" y="4329070"/>
            <a:ext cx="5126029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가입 릴레이션의 데이터 수를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COUNT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해서 출력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기존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11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개의 데이터에서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D2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해당되는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4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개의 데이터가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     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삭제되었으므로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이 출력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482322-F2A2-CB4A-DF95-D297FAC69DFE}"/>
              </a:ext>
            </a:extLst>
          </p:cNvPr>
          <p:cNvSpPr txBox="1"/>
          <p:nvPr/>
        </p:nvSpPr>
        <p:spPr>
          <a:xfrm>
            <a:off x="6499967" y="5146342"/>
            <a:ext cx="5126029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500" dirty="0">
                <a:latin typeface="배찌체" panose="00000500000000000000" pitchFamily="2" charset="-127"/>
                <a:ea typeface="배찌체" panose="00000500000000000000" pitchFamily="2" charset="-127"/>
              </a:rPr>
              <a:t>∴ 결과 값 </a:t>
            </a:r>
            <a:r>
              <a:rPr lang="en-US" altLang="ko-KR" sz="2500" dirty="0">
                <a:latin typeface="배찌체" panose="00000500000000000000" pitchFamily="2" charset="-127"/>
                <a:ea typeface="배찌체" panose="00000500000000000000" pitchFamily="2" charset="-127"/>
              </a:rPr>
              <a:t>: 7</a:t>
            </a:r>
          </a:p>
        </p:txBody>
      </p:sp>
      <p:sp>
        <p:nvSpPr>
          <p:cNvPr id="36" name="화살표: 오른쪽으로 구부러짐 35">
            <a:extLst>
              <a:ext uri="{FF2B5EF4-FFF2-40B4-BE49-F238E27FC236}">
                <a16:creationId xmlns:a16="http://schemas.microsoft.com/office/drawing/2014/main" id="{0CFCFC78-57CC-66BD-A7A8-9F5FE908F2DC}"/>
              </a:ext>
            </a:extLst>
          </p:cNvPr>
          <p:cNvSpPr/>
          <p:nvPr/>
        </p:nvSpPr>
        <p:spPr>
          <a:xfrm>
            <a:off x="5925189" y="2732817"/>
            <a:ext cx="602490" cy="172654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81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4032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3.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데이터베이스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SQL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응용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(2021-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B 9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endParaRPr lang="en-US" altLang="ko-KR" dirty="0">
              <a:solidFill>
                <a:srgbClr val="0070C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8AA73-4C93-6EB2-FAB0-639ED10C3F16}"/>
              </a:ext>
            </a:extLst>
          </p:cNvPr>
          <p:cNvSpPr txBox="1"/>
          <p:nvPr/>
        </p:nvSpPr>
        <p:spPr>
          <a:xfrm>
            <a:off x="913619" y="1597365"/>
            <a:ext cx="10347006" cy="3729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3. SQL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문 실행 결과와 결과에 대한 이유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ⓐ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ⓑ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7D90584-A575-A437-D1BE-2DFF09E6B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967" y="2145139"/>
            <a:ext cx="3000772" cy="2654529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CE04667-0A22-B0CD-1A7D-FE4D7E54110C}"/>
              </a:ext>
            </a:extLst>
          </p:cNvPr>
          <p:cNvCxnSpPr>
            <a:cxnSpLocks/>
          </p:cNvCxnSpPr>
          <p:nvPr/>
        </p:nvCxnSpPr>
        <p:spPr>
          <a:xfrm>
            <a:off x="6648450" y="2944886"/>
            <a:ext cx="119950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8830122-6CE5-6A73-B368-88D266D55BF5}"/>
              </a:ext>
            </a:extLst>
          </p:cNvPr>
          <p:cNvCxnSpPr>
            <a:cxnSpLocks/>
          </p:cNvCxnSpPr>
          <p:nvPr/>
        </p:nvCxnSpPr>
        <p:spPr>
          <a:xfrm>
            <a:off x="6648450" y="3411611"/>
            <a:ext cx="119950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5FD4F61-0969-9430-A2FC-8D7951439832}"/>
              </a:ext>
            </a:extLst>
          </p:cNvPr>
          <p:cNvCxnSpPr>
            <a:cxnSpLocks/>
          </p:cNvCxnSpPr>
          <p:nvPr/>
        </p:nvCxnSpPr>
        <p:spPr>
          <a:xfrm>
            <a:off x="6638925" y="3735461"/>
            <a:ext cx="119950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75C5597-1B0A-37A1-D696-2B16A036B6FA}"/>
              </a:ext>
            </a:extLst>
          </p:cNvPr>
          <p:cNvCxnSpPr>
            <a:cxnSpLocks/>
          </p:cNvCxnSpPr>
          <p:nvPr/>
        </p:nvCxnSpPr>
        <p:spPr>
          <a:xfrm>
            <a:off x="6638925" y="4049786"/>
            <a:ext cx="119950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E55D0BE-AF52-67DF-B4E2-030AEA905645}"/>
              </a:ext>
            </a:extLst>
          </p:cNvPr>
          <p:cNvCxnSpPr>
            <a:cxnSpLocks/>
          </p:cNvCxnSpPr>
          <p:nvPr/>
        </p:nvCxnSpPr>
        <p:spPr>
          <a:xfrm>
            <a:off x="8105775" y="4459361"/>
            <a:ext cx="119950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A3F56C3-B476-8442-538B-8BA03458A61A}"/>
              </a:ext>
            </a:extLst>
          </p:cNvPr>
          <p:cNvSpPr txBox="1"/>
          <p:nvPr/>
        </p:nvSpPr>
        <p:spPr>
          <a:xfrm>
            <a:off x="931375" y="2870572"/>
            <a:ext cx="5126029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동호회 릴레이션의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‘D3’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해당되는 동호회번호를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‘D4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로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’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수정</a:t>
            </a:r>
            <a:endParaRPr lang="en-US" altLang="ko-KR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				          (</a:t>
            </a:r>
            <a:r>
              <a:rPr lang="en-US" altLang="ko-KR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UPDATE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3FE29F-6EF9-3C78-ABCA-BDB07CA7C3D4}"/>
              </a:ext>
            </a:extLst>
          </p:cNvPr>
          <p:cNvSpPr txBox="1"/>
          <p:nvPr/>
        </p:nvSpPr>
        <p:spPr>
          <a:xfrm>
            <a:off x="913619" y="4796517"/>
            <a:ext cx="5220977" cy="10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SQL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문의 동호회 번호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(PK)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의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NO UPDATE(= RESTRICT)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이 선언되어 있기 때문에 가입 </a:t>
            </a:r>
            <a:r>
              <a:rPr lang="ko-KR" altLang="en-US" dirty="0" err="1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릴레이션에는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변경이 되지 않는다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.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따라서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D4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해당하는 데이터의 수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(COUNT)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는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0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이 출력된다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482322-F2A2-CB4A-DF95-D297FAC69DFE}"/>
              </a:ext>
            </a:extLst>
          </p:cNvPr>
          <p:cNvSpPr txBox="1"/>
          <p:nvPr/>
        </p:nvSpPr>
        <p:spPr>
          <a:xfrm>
            <a:off x="6499967" y="5146342"/>
            <a:ext cx="5126029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500" dirty="0">
                <a:latin typeface="배찌체" panose="00000500000000000000" pitchFamily="2" charset="-127"/>
                <a:ea typeface="배찌체" panose="00000500000000000000" pitchFamily="2" charset="-127"/>
              </a:rPr>
              <a:t>∴ 결과 값 </a:t>
            </a:r>
            <a:r>
              <a:rPr lang="en-US" altLang="ko-KR" sz="2500" dirty="0">
                <a:latin typeface="배찌체" panose="00000500000000000000" pitchFamily="2" charset="-127"/>
                <a:ea typeface="배찌체" panose="00000500000000000000" pitchFamily="2" charset="-127"/>
              </a:rPr>
              <a:t>: 0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D43789-E22A-1A8D-9D26-B8C95F0F5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84" y="2292563"/>
            <a:ext cx="401955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1CDF6E-F577-E15E-E5EF-86F9AE134E3F}"/>
              </a:ext>
            </a:extLst>
          </p:cNvPr>
          <p:cNvSpPr txBox="1"/>
          <p:nvPr/>
        </p:nvSpPr>
        <p:spPr>
          <a:xfrm>
            <a:off x="8106565" y="4419257"/>
            <a:ext cx="552449" cy="37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D4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0477D8E-7B1D-8929-022F-E53C29CB6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276" y="3954133"/>
            <a:ext cx="5114925" cy="333375"/>
          </a:xfrm>
          <a:prstGeom prst="rect">
            <a:avLst/>
          </a:prstGeom>
        </p:spPr>
      </p:pic>
      <p:sp>
        <p:nvSpPr>
          <p:cNvPr id="15" name="화살표: 왼쪽으로 구부러짐 14">
            <a:extLst>
              <a:ext uri="{FF2B5EF4-FFF2-40B4-BE49-F238E27FC236}">
                <a16:creationId xmlns:a16="http://schemas.microsoft.com/office/drawing/2014/main" id="{D6CAFA5C-C15D-E690-8BFD-032DAD04E2A5}"/>
              </a:ext>
            </a:extLst>
          </p:cNvPr>
          <p:cNvSpPr/>
          <p:nvPr/>
        </p:nvSpPr>
        <p:spPr>
          <a:xfrm rot="14992312">
            <a:off x="5777591" y="2113284"/>
            <a:ext cx="480108" cy="98266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7C5C0B-42AC-AD97-5B29-2D88DBECBB67}"/>
              </a:ext>
            </a:extLst>
          </p:cNvPr>
          <p:cNvSpPr txBox="1"/>
          <p:nvPr/>
        </p:nvSpPr>
        <p:spPr>
          <a:xfrm>
            <a:off x="5268218" y="1929401"/>
            <a:ext cx="172726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NO ACT</a:t>
            </a:r>
            <a:r>
              <a:rPr lang="en-US" altLang="ko-KR" sz="2000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ION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B17B06-7C06-2E65-38BD-DC3580BB50D1}"/>
              </a:ext>
            </a:extLst>
          </p:cNvPr>
          <p:cNvSpPr txBox="1"/>
          <p:nvPr/>
        </p:nvSpPr>
        <p:spPr>
          <a:xfrm>
            <a:off x="931374" y="4154056"/>
            <a:ext cx="5126029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가입 릴레이션의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“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동호회번호가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D4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해당되는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”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   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데이터 수를 </a:t>
            </a:r>
            <a:r>
              <a:rPr lang="en-US" altLang="ko-KR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COUNT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해서 출력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61B057C-555D-A272-C9C8-B6B3EC4D3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063" y="1283137"/>
            <a:ext cx="2032951" cy="82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1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4" grpId="0"/>
      <p:bldP spid="15" grpId="0" animBg="1"/>
      <p:bldP spid="16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6277" y="553111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D46668-D4CC-4FAF-9F62-698939E38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04" y="1419505"/>
            <a:ext cx="3267075" cy="36480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7DEACB-531A-4FA4-9D18-7B8912732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478" y="2134900"/>
            <a:ext cx="3267075" cy="30031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E845584-9D8A-42E3-9C85-B5B15B115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552" y="1676400"/>
            <a:ext cx="3076575" cy="1752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D587D4-4C93-4620-8A43-FD93DA79E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552" y="3510069"/>
            <a:ext cx="3076575" cy="20383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97693D-00AC-4654-8D2C-57D689C1A48B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4.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 err="1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트리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(2020-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8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1461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7636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4.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 err="1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트리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(2020-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8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접근 방법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 err="1"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트리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(heap tree)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구조에 대한 이해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2ED70-8FEE-4343-A08A-F86269757723}"/>
              </a:ext>
            </a:extLst>
          </p:cNvPr>
          <p:cNvSpPr txBox="1"/>
          <p:nvPr/>
        </p:nvSpPr>
        <p:spPr>
          <a:xfrm>
            <a:off x="931375" y="2218576"/>
            <a:ext cx="1931095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트리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(heap tree)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58693-D8E8-43D6-8291-0862ACA9E304}"/>
              </a:ext>
            </a:extLst>
          </p:cNvPr>
          <p:cNvSpPr txBox="1"/>
          <p:nvPr/>
        </p:nvSpPr>
        <p:spPr>
          <a:xfrm>
            <a:off x="931374" y="2675985"/>
            <a:ext cx="6934335" cy="2067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완전 이진 트리의 일종으로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여러 개의 값들 중 최솟값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,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최댓값을 빠르게 찾기 위한 자료구조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최대 </a:t>
            </a:r>
            <a:r>
              <a:rPr kumimoji="0" lang="ko-KR" alt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(Max Heap)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부모 노드의 키 값이 자식 노드의 키 값보다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크거나 같은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완전 이진 트리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최소 </a:t>
            </a:r>
            <a:r>
              <a:rPr lang="ko-KR" altLang="en-US" dirty="0" err="1"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(Min Heap)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부모 노드의 키 값이 자식 노드의 키 값보다 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작거나 같은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완전 이진 트리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2050" name="Picture 2" descr="https://gmlwjd9405.github.io/images/data-structure-heap/types-of-heap.png">
            <a:extLst>
              <a:ext uri="{FF2B5EF4-FFF2-40B4-BE49-F238E27FC236}">
                <a16:creationId xmlns:a16="http://schemas.microsoft.com/office/drawing/2014/main" id="{6A533499-D98F-4C90-808B-9F8F7672B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540" y="3437330"/>
            <a:ext cx="4931086" cy="209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625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7636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4.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 err="1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트리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(2020-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8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73CE8-4C7E-A646-6856-3344FFAFE4A9}"/>
              </a:ext>
            </a:extLst>
          </p:cNvPr>
          <p:cNvSpPr txBox="1"/>
          <p:nvPr/>
        </p:nvSpPr>
        <p:spPr>
          <a:xfrm>
            <a:off x="913619" y="1597365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㉠에 해당하는 코드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9F24C5-5016-5810-CA62-0C4A0339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037" y="1475211"/>
            <a:ext cx="2219325" cy="18192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710BFD0-0409-8E77-945D-9BF0A093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858" y="3764825"/>
            <a:ext cx="3223413" cy="1819275"/>
          </a:xfrm>
          <a:prstGeom prst="rect">
            <a:avLst/>
          </a:prstGeom>
        </p:spPr>
      </p:pic>
      <p:sp>
        <p:nvSpPr>
          <p:cNvPr id="17" name="화살표: 왼쪽으로 구부러짐 16">
            <a:extLst>
              <a:ext uri="{FF2B5EF4-FFF2-40B4-BE49-F238E27FC236}">
                <a16:creationId xmlns:a16="http://schemas.microsoft.com/office/drawing/2014/main" id="{4AF1EF2F-90BB-34DA-DAA8-6E6DEB5384E8}"/>
              </a:ext>
            </a:extLst>
          </p:cNvPr>
          <p:cNvSpPr/>
          <p:nvPr/>
        </p:nvSpPr>
        <p:spPr>
          <a:xfrm rot="2484190">
            <a:off x="8517367" y="1881728"/>
            <a:ext cx="395580" cy="86563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화살표: 왼쪽으로 구부러짐 18">
            <a:extLst>
              <a:ext uri="{FF2B5EF4-FFF2-40B4-BE49-F238E27FC236}">
                <a16:creationId xmlns:a16="http://schemas.microsoft.com/office/drawing/2014/main" id="{66B274A7-4A6B-F8E5-4E97-DE5900371F2D}"/>
              </a:ext>
            </a:extLst>
          </p:cNvPr>
          <p:cNvSpPr/>
          <p:nvPr/>
        </p:nvSpPr>
        <p:spPr>
          <a:xfrm rot="13360185">
            <a:off x="7827342" y="1376412"/>
            <a:ext cx="395580" cy="865634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0A5F2C-4E52-DC6E-8457-4D4510C093EC}"/>
              </a:ext>
            </a:extLst>
          </p:cNvPr>
          <p:cNvSpPr/>
          <p:nvPr/>
        </p:nvSpPr>
        <p:spPr>
          <a:xfrm>
            <a:off x="7586351" y="4541848"/>
            <a:ext cx="1996011" cy="2206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DBE164-BEE6-AEF1-E0D2-664A0BD9756C}"/>
              </a:ext>
            </a:extLst>
          </p:cNvPr>
          <p:cNvSpPr/>
          <p:nvPr/>
        </p:nvSpPr>
        <p:spPr>
          <a:xfrm>
            <a:off x="7439025" y="5181600"/>
            <a:ext cx="1238250" cy="220652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7F8D0B-12DE-F98B-AB5A-2355FCD76FAD}"/>
              </a:ext>
            </a:extLst>
          </p:cNvPr>
          <p:cNvSpPr txBox="1"/>
          <p:nvPr/>
        </p:nvSpPr>
        <p:spPr>
          <a:xfrm>
            <a:off x="913619" y="2344648"/>
            <a:ext cx="6934335" cy="14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최대 </a:t>
            </a:r>
            <a:r>
              <a:rPr kumimoji="0" lang="ko-KR" alt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(Max Heap)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부모 노드의 키 값이 자식 노드의 키 값보다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크거나 같은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완전 이진 트리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자식 노드의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key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값이 부모 노드의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key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값보다 더 클 때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   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부모 노드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와 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자식 노드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의 위치를 바꿔주어야 한다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2709C2-05E5-9AB0-FFEE-00B07A7A0C41}"/>
              </a:ext>
            </a:extLst>
          </p:cNvPr>
          <p:cNvSpPr txBox="1"/>
          <p:nvPr/>
        </p:nvSpPr>
        <p:spPr>
          <a:xfrm>
            <a:off x="887460" y="3801973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★ 자식 노드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= (</a:t>
            </a:r>
            <a:r>
              <a:rPr lang="ko-KR" altLang="en-US" dirty="0">
                <a:solidFill>
                  <a:srgbClr val="7030A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부모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노드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x 2)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[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좌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]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또는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dirty="0">
                <a:solidFill>
                  <a:srgbClr val="7030A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부모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 노드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x 2) + 1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[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우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]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바꿔 말하면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, (</a:t>
            </a:r>
            <a:r>
              <a:rPr lang="ko-KR" altLang="en-US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자식 노드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/ 2) = </a:t>
            </a:r>
            <a:r>
              <a:rPr lang="ko-KR" altLang="en-US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부모 노드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50D373-C2DE-ACD1-1C33-896115F29CFF}"/>
              </a:ext>
            </a:extLst>
          </p:cNvPr>
          <p:cNvSpPr txBox="1"/>
          <p:nvPr/>
        </p:nvSpPr>
        <p:spPr>
          <a:xfrm>
            <a:off x="4799954" y="5291926"/>
            <a:ext cx="6096000" cy="475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∴ ㉠에 들어갈 코드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 </a:t>
            </a:r>
            <a:r>
              <a:rPr lang="en-US" altLang="ko-KR" sz="2200" dirty="0">
                <a:latin typeface="배찌체" panose="00000500000000000000" pitchFamily="2" charset="-127"/>
                <a:ea typeface="배찌체" panose="00000500000000000000" pitchFamily="2" charset="-127"/>
              </a:rPr>
              <a:t>k /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79A929-4036-0D29-E38F-CF12623122BC}"/>
              </a:ext>
            </a:extLst>
          </p:cNvPr>
          <p:cNvSpPr txBox="1"/>
          <p:nvPr/>
        </p:nvSpPr>
        <p:spPr>
          <a:xfrm>
            <a:off x="8058150" y="4655412"/>
            <a:ext cx="139129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k / 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21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18" grpId="0" animBg="1"/>
      <p:bldP spid="20" grpId="0" animBg="1"/>
      <p:bldP spid="22" grpId="0"/>
      <p:bldP spid="23" grpId="0"/>
      <p:bldP spid="25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57200" y="56803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4. 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 err="1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힙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트리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(2020-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8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73CE8-4C7E-A646-6856-3344FFAFE4A9}"/>
              </a:ext>
            </a:extLst>
          </p:cNvPr>
          <p:cNvSpPr txBox="1"/>
          <p:nvPr/>
        </p:nvSpPr>
        <p:spPr>
          <a:xfrm>
            <a:off x="913619" y="1597365"/>
            <a:ext cx="6934335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2, 3.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프로그램의 실행 결과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/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㉡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㉢에 들어갈 키 값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9F24C5-5016-5810-CA62-0C4A0339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021" y="2406946"/>
            <a:ext cx="1691447" cy="138655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4E38E79-1CD2-4052-0626-225C68A90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971" y="2416318"/>
            <a:ext cx="1691447" cy="138655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D7357E6-3743-7D6A-F110-8F66BEAE0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244" y="2378710"/>
            <a:ext cx="1691447" cy="138655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3D1378A-D2E8-03FD-47AE-B4C13FC0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851" y="2314530"/>
            <a:ext cx="1691447" cy="138655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E320B55-C8AE-DA11-2F49-48B2E537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371" y="4434199"/>
            <a:ext cx="1691447" cy="138655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EE96558-71CB-790A-C7CF-2E266322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84" y="4431812"/>
            <a:ext cx="1691447" cy="138655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D99EE4A-7772-BBDD-D259-7AF664AF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878" y="4451207"/>
            <a:ext cx="1691447" cy="138655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39CFED3-D413-E442-9C92-5E44C2CD3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55" y="4398031"/>
            <a:ext cx="1691447" cy="138655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D5E93C-A778-C0CB-40E4-E66489B5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08" y="2120718"/>
            <a:ext cx="1691447" cy="27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E7AAAD-F1DE-A102-ED0F-E113DF8FF038}"/>
              </a:ext>
            </a:extLst>
          </p:cNvPr>
          <p:cNvSpPr txBox="1"/>
          <p:nvPr/>
        </p:nvSpPr>
        <p:spPr>
          <a:xfrm>
            <a:off x="2022336" y="2390448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24370D3-FF4D-E6F7-A7BB-E09AE33B1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878" y="2120718"/>
            <a:ext cx="1691447" cy="2697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2C09791-76EF-86B8-E21D-17BADB0944CE}"/>
              </a:ext>
            </a:extLst>
          </p:cNvPr>
          <p:cNvSpPr txBox="1"/>
          <p:nvPr/>
        </p:nvSpPr>
        <p:spPr>
          <a:xfrm>
            <a:off x="4384368" y="2390448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320866-EE66-F9EE-E2F9-8CC2E82B1ACC}"/>
              </a:ext>
            </a:extLst>
          </p:cNvPr>
          <p:cNvSpPr txBox="1"/>
          <p:nvPr/>
        </p:nvSpPr>
        <p:spPr>
          <a:xfrm>
            <a:off x="3961605" y="2873650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9" name="화살표: 왼쪽으로 구부러짐 18">
            <a:extLst>
              <a:ext uri="{FF2B5EF4-FFF2-40B4-BE49-F238E27FC236}">
                <a16:creationId xmlns:a16="http://schemas.microsoft.com/office/drawing/2014/main" id="{66B274A7-4A6B-F8E5-4E97-DE5900371F2D}"/>
              </a:ext>
            </a:extLst>
          </p:cNvPr>
          <p:cNvSpPr/>
          <p:nvPr/>
        </p:nvSpPr>
        <p:spPr>
          <a:xfrm rot="13360185">
            <a:off x="3898105" y="2240091"/>
            <a:ext cx="313180" cy="865634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화살표: 왼쪽으로 구부러짐 16">
            <a:extLst>
              <a:ext uri="{FF2B5EF4-FFF2-40B4-BE49-F238E27FC236}">
                <a16:creationId xmlns:a16="http://schemas.microsoft.com/office/drawing/2014/main" id="{4AF1EF2F-90BB-34DA-DAA8-6E6DEB5384E8}"/>
              </a:ext>
            </a:extLst>
          </p:cNvPr>
          <p:cNvSpPr/>
          <p:nvPr/>
        </p:nvSpPr>
        <p:spPr>
          <a:xfrm rot="2484190">
            <a:off x="4423961" y="2639169"/>
            <a:ext cx="329495" cy="86563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6BF106-C762-75B0-6FD6-AD713D18C10F}"/>
              </a:ext>
            </a:extLst>
          </p:cNvPr>
          <p:cNvSpPr txBox="1"/>
          <p:nvPr/>
        </p:nvSpPr>
        <p:spPr>
          <a:xfrm>
            <a:off x="6705850" y="2344826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EB6543-1709-DA22-9F7B-6F36969559DB}"/>
              </a:ext>
            </a:extLst>
          </p:cNvPr>
          <p:cNvSpPr txBox="1"/>
          <p:nvPr/>
        </p:nvSpPr>
        <p:spPr>
          <a:xfrm>
            <a:off x="6301242" y="2830825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21EF29C-9327-45EF-80DD-FB58459F1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851" y="2110809"/>
            <a:ext cx="1691447" cy="26498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65BB356-2CBC-D47F-6CDC-45276E4B6162}"/>
              </a:ext>
            </a:extLst>
          </p:cNvPr>
          <p:cNvSpPr txBox="1"/>
          <p:nvPr/>
        </p:nvSpPr>
        <p:spPr>
          <a:xfrm>
            <a:off x="9134725" y="2297201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DFB65C-00DE-B043-B88B-72E2F64BDD32}"/>
              </a:ext>
            </a:extLst>
          </p:cNvPr>
          <p:cNvSpPr txBox="1"/>
          <p:nvPr/>
        </p:nvSpPr>
        <p:spPr>
          <a:xfrm>
            <a:off x="8712096" y="2770659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A3A4D2-0F68-7D4C-997C-218F2213C1FD}"/>
              </a:ext>
            </a:extLst>
          </p:cNvPr>
          <p:cNvSpPr txBox="1"/>
          <p:nvPr/>
        </p:nvSpPr>
        <p:spPr>
          <a:xfrm>
            <a:off x="9563350" y="2763926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6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4E045A4-BF25-B5A5-7E95-5A4F2A407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370" y="4168849"/>
            <a:ext cx="1691447" cy="26973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C83D9A4-9262-870B-D416-6EB3C201E734}"/>
              </a:ext>
            </a:extLst>
          </p:cNvPr>
          <p:cNvSpPr txBox="1"/>
          <p:nvPr/>
        </p:nvSpPr>
        <p:spPr>
          <a:xfrm>
            <a:off x="9134725" y="4407173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97189C-6BF0-791D-E8B3-31184C062C3F}"/>
              </a:ext>
            </a:extLst>
          </p:cNvPr>
          <p:cNvSpPr txBox="1"/>
          <p:nvPr/>
        </p:nvSpPr>
        <p:spPr>
          <a:xfrm>
            <a:off x="8730793" y="4890044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C5AB56-C523-3EE7-7C24-3966013D5A3B}"/>
              </a:ext>
            </a:extLst>
          </p:cNvPr>
          <p:cNvSpPr txBox="1"/>
          <p:nvPr/>
        </p:nvSpPr>
        <p:spPr>
          <a:xfrm>
            <a:off x="9568346" y="4883405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6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C57AB1-4774-C9F7-A3C4-77F10F26B1C0}"/>
              </a:ext>
            </a:extLst>
          </p:cNvPr>
          <p:cNvSpPr txBox="1"/>
          <p:nvPr/>
        </p:nvSpPr>
        <p:spPr>
          <a:xfrm>
            <a:off x="8380303" y="5382785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391DEFD8-2527-8875-BD51-993D23D9CB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2647" y="4170546"/>
            <a:ext cx="1691447" cy="26690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7B58015-2E89-0B46-0371-158A0A68AD93}"/>
              </a:ext>
            </a:extLst>
          </p:cNvPr>
          <p:cNvSpPr txBox="1"/>
          <p:nvPr/>
        </p:nvSpPr>
        <p:spPr>
          <a:xfrm>
            <a:off x="6788370" y="4407173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BDA59F-C10D-9130-EACC-2B1AE660DF68}"/>
              </a:ext>
            </a:extLst>
          </p:cNvPr>
          <p:cNvSpPr txBox="1"/>
          <p:nvPr/>
        </p:nvSpPr>
        <p:spPr>
          <a:xfrm>
            <a:off x="6351694" y="4883405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87926D-9E6C-1493-4332-57115572B66E}"/>
              </a:ext>
            </a:extLst>
          </p:cNvPr>
          <p:cNvSpPr txBox="1"/>
          <p:nvPr/>
        </p:nvSpPr>
        <p:spPr>
          <a:xfrm>
            <a:off x="7221184" y="4892255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6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1E0FDC-1681-99F3-EE84-AB3D8F6454F9}"/>
              </a:ext>
            </a:extLst>
          </p:cNvPr>
          <p:cNvSpPr txBox="1"/>
          <p:nvPr/>
        </p:nvSpPr>
        <p:spPr>
          <a:xfrm>
            <a:off x="6005673" y="5369389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25BDED-F19D-979F-6C32-E1712BAAFA01}"/>
              </a:ext>
            </a:extLst>
          </p:cNvPr>
          <p:cNvSpPr txBox="1"/>
          <p:nvPr/>
        </p:nvSpPr>
        <p:spPr>
          <a:xfrm>
            <a:off x="6638461" y="5397381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8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5" name="화살표: 왼쪽으로 구부러짐 54">
            <a:extLst>
              <a:ext uri="{FF2B5EF4-FFF2-40B4-BE49-F238E27FC236}">
                <a16:creationId xmlns:a16="http://schemas.microsoft.com/office/drawing/2014/main" id="{6FFD3F8A-6A82-1BA5-F316-2DA53750D9FE}"/>
              </a:ext>
            </a:extLst>
          </p:cNvPr>
          <p:cNvSpPr/>
          <p:nvPr/>
        </p:nvSpPr>
        <p:spPr>
          <a:xfrm rot="20162540">
            <a:off x="6797927" y="4864607"/>
            <a:ext cx="313180" cy="865634"/>
          </a:xfrm>
          <a:prstGeom prst="curved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6" name="화살표: 왼쪽으로 구부러짐 55">
            <a:extLst>
              <a:ext uri="{FF2B5EF4-FFF2-40B4-BE49-F238E27FC236}">
                <a16:creationId xmlns:a16="http://schemas.microsoft.com/office/drawing/2014/main" id="{4AE2B20A-4F0D-C167-CBCC-B95A793DB87F}"/>
              </a:ext>
            </a:extLst>
          </p:cNvPr>
          <p:cNvSpPr/>
          <p:nvPr/>
        </p:nvSpPr>
        <p:spPr>
          <a:xfrm rot="9361185">
            <a:off x="6188266" y="5042738"/>
            <a:ext cx="329495" cy="865634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5484C8-F242-67CB-36EF-0A7376E27CAC}"/>
              </a:ext>
            </a:extLst>
          </p:cNvPr>
          <p:cNvSpPr txBox="1"/>
          <p:nvPr/>
        </p:nvSpPr>
        <p:spPr>
          <a:xfrm>
            <a:off x="4372911" y="4421829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54ECC2-BFE3-FD23-BF91-43FA4D23D5AE}"/>
              </a:ext>
            </a:extLst>
          </p:cNvPr>
          <p:cNvSpPr txBox="1"/>
          <p:nvPr/>
        </p:nvSpPr>
        <p:spPr>
          <a:xfrm>
            <a:off x="3955415" y="4912205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8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7760EA-87AD-FD82-7E4B-FC6A05391EA7}"/>
              </a:ext>
            </a:extLst>
          </p:cNvPr>
          <p:cNvSpPr txBox="1"/>
          <p:nvPr/>
        </p:nvSpPr>
        <p:spPr>
          <a:xfrm>
            <a:off x="4811803" y="4924293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6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1964D3-6F5B-AEDA-FBB9-02C0AC94A542}"/>
              </a:ext>
            </a:extLst>
          </p:cNvPr>
          <p:cNvSpPr txBox="1"/>
          <p:nvPr/>
        </p:nvSpPr>
        <p:spPr>
          <a:xfrm>
            <a:off x="3599719" y="5409204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1D8787-20C9-4770-1301-DE294D0FF9C0}"/>
              </a:ext>
            </a:extLst>
          </p:cNvPr>
          <p:cNvSpPr txBox="1"/>
          <p:nvPr/>
        </p:nvSpPr>
        <p:spPr>
          <a:xfrm>
            <a:off x="4220692" y="5408250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2" name="화살표: 왼쪽으로 구부러짐 61">
            <a:extLst>
              <a:ext uri="{FF2B5EF4-FFF2-40B4-BE49-F238E27FC236}">
                <a16:creationId xmlns:a16="http://schemas.microsoft.com/office/drawing/2014/main" id="{245D060A-6971-86F9-F4F5-D515CB7275E5}"/>
              </a:ext>
            </a:extLst>
          </p:cNvPr>
          <p:cNvSpPr/>
          <p:nvPr/>
        </p:nvSpPr>
        <p:spPr>
          <a:xfrm rot="13360185">
            <a:off x="3936205" y="4221291"/>
            <a:ext cx="313180" cy="865634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3" name="화살표: 왼쪽으로 구부러짐 62">
            <a:extLst>
              <a:ext uri="{FF2B5EF4-FFF2-40B4-BE49-F238E27FC236}">
                <a16:creationId xmlns:a16="http://schemas.microsoft.com/office/drawing/2014/main" id="{F49AB04D-8DD7-A241-55B5-8009A1FC8F95}"/>
              </a:ext>
            </a:extLst>
          </p:cNvPr>
          <p:cNvSpPr/>
          <p:nvPr/>
        </p:nvSpPr>
        <p:spPr>
          <a:xfrm rot="2484190">
            <a:off x="4404911" y="4667994"/>
            <a:ext cx="329495" cy="86563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A75D5B-074A-3A0B-C274-982DDC2CD8F0}"/>
              </a:ext>
            </a:extLst>
          </p:cNvPr>
          <p:cNvSpPr txBox="1"/>
          <p:nvPr/>
        </p:nvSpPr>
        <p:spPr>
          <a:xfrm>
            <a:off x="2020236" y="4374204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8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9D7C08-FA53-2255-24F5-7BCE1FC2F903}"/>
              </a:ext>
            </a:extLst>
          </p:cNvPr>
          <p:cNvSpPr txBox="1"/>
          <p:nvPr/>
        </p:nvSpPr>
        <p:spPr>
          <a:xfrm>
            <a:off x="1591611" y="4850454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7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48A20B-086E-6BCF-6C67-2547882A0539}"/>
              </a:ext>
            </a:extLst>
          </p:cNvPr>
          <p:cNvSpPr txBox="1"/>
          <p:nvPr/>
        </p:nvSpPr>
        <p:spPr>
          <a:xfrm>
            <a:off x="2448861" y="4840929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6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651CF3-ACBF-15EC-0FB7-DE729F9A5257}"/>
              </a:ext>
            </a:extLst>
          </p:cNvPr>
          <p:cNvSpPr txBox="1"/>
          <p:nvPr/>
        </p:nvSpPr>
        <p:spPr>
          <a:xfrm>
            <a:off x="1248711" y="5345754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54D622-E76D-EE4B-1C78-C49A603A7430}"/>
              </a:ext>
            </a:extLst>
          </p:cNvPr>
          <p:cNvSpPr txBox="1"/>
          <p:nvPr/>
        </p:nvSpPr>
        <p:spPr>
          <a:xfrm>
            <a:off x="1867836" y="5336229"/>
            <a:ext cx="382731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1CF43E51-434B-7423-5CC6-327E8D9F284F}"/>
              </a:ext>
            </a:extLst>
          </p:cNvPr>
          <p:cNvSpPr/>
          <p:nvPr/>
        </p:nvSpPr>
        <p:spPr>
          <a:xfrm>
            <a:off x="2941809" y="2844789"/>
            <a:ext cx="527508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화살표: 오른쪽 69">
            <a:extLst>
              <a:ext uri="{FF2B5EF4-FFF2-40B4-BE49-F238E27FC236}">
                <a16:creationId xmlns:a16="http://schemas.microsoft.com/office/drawing/2014/main" id="{B45289F4-EF94-63D6-C626-4E2690DA0B6E}"/>
              </a:ext>
            </a:extLst>
          </p:cNvPr>
          <p:cNvSpPr/>
          <p:nvPr/>
        </p:nvSpPr>
        <p:spPr>
          <a:xfrm>
            <a:off x="5342829" y="2844789"/>
            <a:ext cx="527508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635A291A-5D5C-A4BF-41C6-0546612E05E9}"/>
              </a:ext>
            </a:extLst>
          </p:cNvPr>
          <p:cNvSpPr/>
          <p:nvPr/>
        </p:nvSpPr>
        <p:spPr>
          <a:xfrm>
            <a:off x="7696637" y="2836375"/>
            <a:ext cx="527508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화살표: 오른쪽 71">
            <a:extLst>
              <a:ext uri="{FF2B5EF4-FFF2-40B4-BE49-F238E27FC236}">
                <a16:creationId xmlns:a16="http://schemas.microsoft.com/office/drawing/2014/main" id="{CB5AD621-2E42-F9E9-8CEC-453396094757}"/>
              </a:ext>
            </a:extLst>
          </p:cNvPr>
          <p:cNvSpPr/>
          <p:nvPr/>
        </p:nvSpPr>
        <p:spPr>
          <a:xfrm rot="10800000">
            <a:off x="2941780" y="4862823"/>
            <a:ext cx="527508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화살표: 오른쪽 72">
            <a:extLst>
              <a:ext uri="{FF2B5EF4-FFF2-40B4-BE49-F238E27FC236}">
                <a16:creationId xmlns:a16="http://schemas.microsoft.com/office/drawing/2014/main" id="{1BDB8A80-82CF-CB83-C9E2-B60A2A7E1197}"/>
              </a:ext>
            </a:extLst>
          </p:cNvPr>
          <p:cNvSpPr/>
          <p:nvPr/>
        </p:nvSpPr>
        <p:spPr>
          <a:xfrm rot="10800000">
            <a:off x="5356327" y="4862823"/>
            <a:ext cx="527508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화살표: 오른쪽 73">
            <a:extLst>
              <a:ext uri="{FF2B5EF4-FFF2-40B4-BE49-F238E27FC236}">
                <a16:creationId xmlns:a16="http://schemas.microsoft.com/office/drawing/2014/main" id="{57C809F7-FA27-13AA-D55E-5DDA2118B77D}"/>
              </a:ext>
            </a:extLst>
          </p:cNvPr>
          <p:cNvSpPr/>
          <p:nvPr/>
        </p:nvSpPr>
        <p:spPr>
          <a:xfrm rot="10800000">
            <a:off x="7705896" y="4865812"/>
            <a:ext cx="527508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5D0EA6FE-3C0A-5226-F684-89CD7D7E46C9}"/>
              </a:ext>
            </a:extLst>
          </p:cNvPr>
          <p:cNvSpPr/>
          <p:nvPr/>
        </p:nvSpPr>
        <p:spPr>
          <a:xfrm rot="5400000">
            <a:off x="9015605" y="3741142"/>
            <a:ext cx="427004" cy="415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D32B04-EF6E-58CD-F93F-79BD6190D4C4}"/>
              </a:ext>
            </a:extLst>
          </p:cNvPr>
          <p:cNvSpPr txBox="1"/>
          <p:nvPr/>
        </p:nvSpPr>
        <p:spPr>
          <a:xfrm>
            <a:off x="6123161" y="1370235"/>
            <a:ext cx="3822920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답안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2 :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[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j-lt"/>
                <a:ea typeface="배찌체" panose="00000500000000000000" pitchFamily="2" charset="-127"/>
              </a:rPr>
              <a:t>/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]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[8][7][6][2][3]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답안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3 :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㉡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 8,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㉢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 3</a:t>
            </a:r>
          </a:p>
        </p:txBody>
      </p:sp>
    </p:spTree>
    <p:extLst>
      <p:ext uri="{BB962C8B-B14F-4D97-AF65-F5344CB8AC3E}">
        <p14:creationId xmlns:p14="http://schemas.microsoft.com/office/powerpoint/2010/main" val="3909040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57200" y="51261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CBE44-2651-4EC7-82B5-E8EF2B8F9FAC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5.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그래프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(2018-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13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69125F-6282-4493-8328-187F3A228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06" y="1385460"/>
            <a:ext cx="3564252" cy="44335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47D4BF6-2090-47B8-A702-C7550C7A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704" y="1382533"/>
            <a:ext cx="3081163" cy="442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7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7636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5.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그래프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(2018-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13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6FDD8-D176-44BF-ACB3-907912D53B61}"/>
              </a:ext>
            </a:extLst>
          </p:cNvPr>
          <p:cNvSpPr txBox="1"/>
          <p:nvPr/>
        </p:nvSpPr>
        <p:spPr>
          <a:xfrm>
            <a:off x="931375" y="1419505"/>
            <a:ext cx="6934335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접근 방법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?</a:t>
            </a: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인접 리스트 및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DFS(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깊이 우선 탐색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에 대한 이해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1569B-77A0-4831-BFE0-79589A4DEE5D}"/>
              </a:ext>
            </a:extLst>
          </p:cNvPr>
          <p:cNvSpPr txBox="1"/>
          <p:nvPr/>
        </p:nvSpPr>
        <p:spPr>
          <a:xfrm>
            <a:off x="931374" y="2205721"/>
            <a:ext cx="1824525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000">
                <a:latin typeface="배찌체" panose="00000500000000000000" pitchFamily="2" charset="-127"/>
                <a:ea typeface="배찌체" panose="00000500000000000000" pitchFamily="2" charset="-127"/>
              </a:rPr>
              <a:t>인접 리스트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CF458-A6EE-467A-8596-A14CB5A70005}"/>
              </a:ext>
            </a:extLst>
          </p:cNvPr>
          <p:cNvSpPr txBox="1"/>
          <p:nvPr/>
        </p:nvSpPr>
        <p:spPr>
          <a:xfrm>
            <a:off x="931373" y="3852060"/>
            <a:ext cx="1824525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배찌체" panose="00000500000000000000" pitchFamily="2" charset="-127"/>
                <a:ea typeface="배찌체" panose="00000500000000000000" pitchFamily="2" charset="-127"/>
              </a:rPr>
              <a:t>깊이 우선 탐색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C9DA6F-5D88-4168-9A39-C671A6CEBA4F}"/>
              </a:ext>
            </a:extLst>
          </p:cNvPr>
          <p:cNvSpPr txBox="1"/>
          <p:nvPr/>
        </p:nvSpPr>
        <p:spPr>
          <a:xfrm>
            <a:off x="931373" y="2665734"/>
            <a:ext cx="6934335" cy="14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그래프의 정점 연결 상태를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연결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리스트로 표현하는 방법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ko-KR" altLang="en-US" dirty="0" err="1">
                <a:latin typeface="배찌체" panose="00000500000000000000" pitchFamily="2" charset="-127"/>
                <a:ea typeface="배찌체" panose="00000500000000000000" pitchFamily="2" charset="-127"/>
              </a:rPr>
              <a:t>무방향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그래프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 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실제 간선의 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x 2)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만큼의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list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필요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방향 그래프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실제 간선의 수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만큼의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list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필요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R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082" name="Picture 10" descr="https://t1.daumcdn.net/cfile/tistory/265E074D584C26DD2B">
            <a:extLst>
              <a:ext uri="{FF2B5EF4-FFF2-40B4-BE49-F238E27FC236}">
                <a16:creationId xmlns:a16="http://schemas.microsoft.com/office/drawing/2014/main" id="{211520AA-BA7F-49DC-B1CA-0DDD19BBC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9380"/>
            <a:ext cx="4942727" cy="169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A828AB-2C7E-461C-8492-30EACA2C4B97}"/>
              </a:ext>
            </a:extLst>
          </p:cNvPr>
          <p:cNvSpPr txBox="1"/>
          <p:nvPr/>
        </p:nvSpPr>
        <p:spPr>
          <a:xfrm>
            <a:off x="931373" y="4332104"/>
            <a:ext cx="6934335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하나의 정점으로부터 시작하여 차례대로 모든 정점들을 한 번씩 방문하는 것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084" name="Picture 12" descr="https://gmlwjd9405.github.io/images/algorithm-dfs-vs-bfs/dfs-example.png">
            <a:extLst>
              <a:ext uri="{FF2B5EF4-FFF2-40B4-BE49-F238E27FC236}">
                <a16:creationId xmlns:a16="http://schemas.microsoft.com/office/drawing/2014/main" id="{8CA2B259-BF44-4D52-AFA7-936E4FA04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275" y="3772204"/>
            <a:ext cx="2875828" cy="222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684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3344" y="576365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4CFF6-B13E-4C81-89C5-DDCABC265B0D}"/>
              </a:ext>
            </a:extLst>
          </p:cNvPr>
          <p:cNvSpPr txBox="1"/>
          <p:nvPr/>
        </p:nvSpPr>
        <p:spPr>
          <a:xfrm>
            <a:off x="2036619" y="614296"/>
            <a:ext cx="781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5.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자료구조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– 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그래프 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(2018-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 13</a:t>
            </a:r>
            <a:r>
              <a:rPr lang="ko-KR" altLang="en-US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</a:t>
            </a:r>
            <a:r>
              <a:rPr lang="en-US" altLang="ko-KR" sz="2400" dirty="0">
                <a:solidFill>
                  <a:prstClr val="white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2400" dirty="0">
              <a:solidFill>
                <a:prstClr val="white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803553-1038-AE52-051A-6FA45E023C48}"/>
              </a:ext>
            </a:extLst>
          </p:cNvPr>
          <p:cNvSpPr txBox="1"/>
          <p:nvPr/>
        </p:nvSpPr>
        <p:spPr>
          <a:xfrm>
            <a:off x="913619" y="1597365"/>
            <a:ext cx="6934335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1, 2 :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㉠이 출력하는 내용을 순서대로 작성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㉡의 출력 결과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3F168A8-D972-A403-2238-77FC4B7A6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9" y="2769853"/>
            <a:ext cx="2333625" cy="16859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602458-7950-5658-E6DE-88CF5861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2429097"/>
            <a:ext cx="2857500" cy="25527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72E9F0-AB6B-759B-B558-3C9953DC71CB}"/>
              </a:ext>
            </a:extLst>
          </p:cNvPr>
          <p:cNvSpPr txBox="1"/>
          <p:nvPr/>
        </p:nvSpPr>
        <p:spPr>
          <a:xfrm>
            <a:off x="6935151" y="2148603"/>
            <a:ext cx="3220231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1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∴ ㉠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 0 1 4 2 5 6 3 7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62D885-B54E-2A6F-8F04-1FEF54E0EAE2}"/>
              </a:ext>
            </a:extLst>
          </p:cNvPr>
          <p:cNvSpPr txBox="1"/>
          <p:nvPr/>
        </p:nvSpPr>
        <p:spPr>
          <a:xfrm>
            <a:off x="6935150" y="3749377"/>
            <a:ext cx="3220231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작성방법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2</a:t>
            </a:r>
          </a:p>
          <a:p>
            <a:pPr marL="0" marR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∴ ㉡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: 0 2 5 6 7 </a:t>
            </a:r>
          </a:p>
        </p:txBody>
      </p:sp>
    </p:spTree>
    <p:extLst>
      <p:ext uri="{BB962C8B-B14F-4D97-AF65-F5344CB8AC3E}">
        <p14:creationId xmlns:p14="http://schemas.microsoft.com/office/powerpoint/2010/main" val="406086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57200" y="540327"/>
            <a:ext cx="11277600" cy="5721930"/>
          </a:xfrm>
          <a:prstGeom prst="rect">
            <a:avLst/>
          </a:prstGeom>
          <a:solidFill>
            <a:schemeClr val="bg1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0945" y="30479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90945" y="6054439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90945" y="6137563"/>
            <a:ext cx="11582399" cy="415637"/>
          </a:xfrm>
          <a:prstGeom prst="roundRect">
            <a:avLst>
              <a:gd name="adj" fmla="val 30000"/>
            </a:avLst>
          </a:prstGeom>
          <a:solidFill>
            <a:srgbClr val="FFF5C0"/>
          </a:solidFill>
          <a:ln w="31750">
            <a:solidFill>
              <a:srgbClr val="6757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801091" y="519066"/>
            <a:ext cx="8354291" cy="652127"/>
          </a:xfrm>
          <a:prstGeom prst="roundRect">
            <a:avLst>
              <a:gd name="adj" fmla="val 50000"/>
            </a:avLst>
          </a:prstGeom>
          <a:solidFill>
            <a:srgbClr val="5141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1091" y="2083777"/>
            <a:ext cx="3324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4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970D510-E21C-4123-929F-375CD739A89C}"/>
              </a:ext>
            </a:extLst>
          </p:cNvPr>
          <p:cNvGrpSpPr/>
          <p:nvPr/>
        </p:nvGrpSpPr>
        <p:grpSpPr>
          <a:xfrm>
            <a:off x="2475905" y="2056731"/>
            <a:ext cx="7519886" cy="2123658"/>
            <a:chOff x="2504928" y="2261267"/>
            <a:chExt cx="7519886" cy="2123658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B939F83-EEDF-4201-B807-DAE4C62F20B7}"/>
                </a:ext>
              </a:extLst>
            </p:cNvPr>
            <p:cNvSpPr/>
            <p:nvPr/>
          </p:nvSpPr>
          <p:spPr>
            <a:xfrm>
              <a:off x="2761488" y="3858768"/>
              <a:ext cx="7006766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C48D7E-0123-4BD4-806E-263E7C6FA7E4}"/>
                </a:ext>
              </a:extLst>
            </p:cNvPr>
            <p:cNvSpPr txBox="1"/>
            <p:nvPr/>
          </p:nvSpPr>
          <p:spPr>
            <a:xfrm>
              <a:off x="2504928" y="2261267"/>
              <a:ext cx="7519886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600" dirty="0">
                  <a:solidFill>
                    <a:schemeClr val="accent4">
                      <a:lumMod val="50000"/>
                    </a:schemeClr>
                  </a:solidFill>
                  <a:latin typeface="배찌체" panose="00000500000000000000" pitchFamily="2" charset="-127"/>
                  <a:ea typeface="배찌체" panose="00000500000000000000" pitchFamily="2" charset="-127"/>
                </a:rPr>
                <a:t>감사합니다</a:t>
              </a:r>
              <a:r>
                <a:rPr lang="en-US" altLang="ko-KR" sz="9600" dirty="0">
                  <a:solidFill>
                    <a:schemeClr val="accent4">
                      <a:lumMod val="50000"/>
                    </a:schemeClr>
                  </a:solidFill>
                  <a:latin typeface="배찌체" panose="00000500000000000000" pitchFamily="2" charset="-127"/>
                  <a:ea typeface="배찌체" panose="00000500000000000000" pitchFamily="2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4221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1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kern="1200" cap="none" spc="0" normalizeH="0" baseline="0" noProof="0" dirty="0" smtClean="0">
            <a:ln>
              <a:noFill/>
            </a:ln>
            <a:effectLst/>
            <a:uLnTx/>
            <a:uFillTx/>
            <a:latin typeface="나눔스퀘어라운드 Bold" panose="020B0600000101010101" pitchFamily="50" charset="-127"/>
            <a:ea typeface="나눔스퀘어라운드 Bold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2449</TotalTime>
  <Words>1324</Words>
  <Application>Microsoft Office PowerPoint</Application>
  <PresentationFormat>와이드스크린</PresentationFormat>
  <Paragraphs>196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Noto Sans Demilight</vt:lpstr>
      <vt:lpstr>나눔스퀘어_ac ExtraBold</vt:lpstr>
      <vt:lpstr>맑은 고딕</vt:lpstr>
      <vt:lpstr>배찌체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김주아</dc:creator>
  <cp:lastModifiedBy>이동기</cp:lastModifiedBy>
  <cp:revision>96</cp:revision>
  <dcterms:created xsi:type="dcterms:W3CDTF">2021-11-08T03:59:21Z</dcterms:created>
  <dcterms:modified xsi:type="dcterms:W3CDTF">2022-05-16T10:00:59Z</dcterms:modified>
</cp:coreProperties>
</file>